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06" autoAdjust="0"/>
    <p:restoredTop sz="94660"/>
  </p:normalViewPr>
  <p:slideViewPr>
    <p:cSldViewPr snapToGrid="0">
      <p:cViewPr>
        <p:scale>
          <a:sx n="74" d="100"/>
          <a:sy n="74" d="100"/>
        </p:scale>
        <p:origin x="732" y="24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9FD2C4-E467-B9DF-49EE-07033F0DC28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FF29A4E-82D8-FF40-1E64-1F832559C53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3A05E9B-7170-3381-599F-5B97BC881000}"/>
              </a:ext>
            </a:extLst>
          </p:cNvPr>
          <p:cNvSpPr>
            <a:spLocks noGrp="1"/>
          </p:cNvSpPr>
          <p:nvPr>
            <p:ph type="dt" sz="half" idx="10"/>
          </p:nvPr>
        </p:nvSpPr>
        <p:spPr/>
        <p:txBody>
          <a:bodyPr/>
          <a:lstStyle/>
          <a:p>
            <a:fld id="{4DC307CA-3709-412E-89EF-88D0040A9D90}" type="datetimeFigureOut">
              <a:rPr lang="en-IN" smtClean="0"/>
              <a:t>18-08-2026</a:t>
            </a:fld>
            <a:endParaRPr lang="en-IN"/>
          </a:p>
        </p:txBody>
      </p:sp>
      <p:sp>
        <p:nvSpPr>
          <p:cNvPr id="5" name="Footer Placeholder 4">
            <a:extLst>
              <a:ext uri="{FF2B5EF4-FFF2-40B4-BE49-F238E27FC236}">
                <a16:creationId xmlns:a16="http://schemas.microsoft.com/office/drawing/2014/main" id="{5D99BA8B-4896-96F2-D29B-8D0F88E785C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A527E33-4936-C973-3A36-6721B296D9D2}"/>
              </a:ext>
            </a:extLst>
          </p:cNvPr>
          <p:cNvSpPr>
            <a:spLocks noGrp="1"/>
          </p:cNvSpPr>
          <p:nvPr>
            <p:ph type="sldNum" sz="quarter" idx="12"/>
          </p:nvPr>
        </p:nvSpPr>
        <p:spPr/>
        <p:txBody>
          <a:bodyPr/>
          <a:lstStyle/>
          <a:p>
            <a:fld id="{5A8A1CFC-AE48-4E94-BBD8-0276C73E9B60}" type="slidenum">
              <a:rPr lang="en-IN" smtClean="0"/>
              <a:t>‹#›</a:t>
            </a:fld>
            <a:endParaRPr lang="en-IN"/>
          </a:p>
        </p:txBody>
      </p:sp>
    </p:spTree>
    <p:extLst>
      <p:ext uri="{BB962C8B-B14F-4D97-AF65-F5344CB8AC3E}">
        <p14:creationId xmlns:p14="http://schemas.microsoft.com/office/powerpoint/2010/main" val="38757183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754EEE-4669-3738-434D-E0609D868D7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1B430A2-02CA-C963-BF52-48E5F70AB9A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C5D44EE-C486-045F-0321-DDF62A9BBC4A}"/>
              </a:ext>
            </a:extLst>
          </p:cNvPr>
          <p:cNvSpPr>
            <a:spLocks noGrp="1"/>
          </p:cNvSpPr>
          <p:nvPr>
            <p:ph type="dt" sz="half" idx="10"/>
          </p:nvPr>
        </p:nvSpPr>
        <p:spPr/>
        <p:txBody>
          <a:bodyPr/>
          <a:lstStyle/>
          <a:p>
            <a:fld id="{4DC307CA-3709-412E-89EF-88D0040A9D90}" type="datetimeFigureOut">
              <a:rPr lang="en-IN" smtClean="0"/>
              <a:t>18-08-2026</a:t>
            </a:fld>
            <a:endParaRPr lang="en-IN"/>
          </a:p>
        </p:txBody>
      </p:sp>
      <p:sp>
        <p:nvSpPr>
          <p:cNvPr id="5" name="Footer Placeholder 4">
            <a:extLst>
              <a:ext uri="{FF2B5EF4-FFF2-40B4-BE49-F238E27FC236}">
                <a16:creationId xmlns:a16="http://schemas.microsoft.com/office/drawing/2014/main" id="{5B444019-3E8E-E891-E30D-6E1D71DE3BE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6404CE3-2218-B31F-6C07-62D9A3CB72B1}"/>
              </a:ext>
            </a:extLst>
          </p:cNvPr>
          <p:cNvSpPr>
            <a:spLocks noGrp="1"/>
          </p:cNvSpPr>
          <p:nvPr>
            <p:ph type="sldNum" sz="quarter" idx="12"/>
          </p:nvPr>
        </p:nvSpPr>
        <p:spPr/>
        <p:txBody>
          <a:bodyPr/>
          <a:lstStyle/>
          <a:p>
            <a:fld id="{5A8A1CFC-AE48-4E94-BBD8-0276C73E9B60}" type="slidenum">
              <a:rPr lang="en-IN" smtClean="0"/>
              <a:t>‹#›</a:t>
            </a:fld>
            <a:endParaRPr lang="en-IN"/>
          </a:p>
        </p:txBody>
      </p:sp>
    </p:spTree>
    <p:extLst>
      <p:ext uri="{BB962C8B-B14F-4D97-AF65-F5344CB8AC3E}">
        <p14:creationId xmlns:p14="http://schemas.microsoft.com/office/powerpoint/2010/main" val="18330503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7DAE54-8422-515E-EC21-F9A1101551E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EECE6C0-0D3C-5158-5B60-7D2124B529E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A735E4F-736C-809D-92D3-C7F92F1F568C}"/>
              </a:ext>
            </a:extLst>
          </p:cNvPr>
          <p:cNvSpPr>
            <a:spLocks noGrp="1"/>
          </p:cNvSpPr>
          <p:nvPr>
            <p:ph type="dt" sz="half" idx="10"/>
          </p:nvPr>
        </p:nvSpPr>
        <p:spPr/>
        <p:txBody>
          <a:bodyPr/>
          <a:lstStyle/>
          <a:p>
            <a:fld id="{4DC307CA-3709-412E-89EF-88D0040A9D90}" type="datetimeFigureOut">
              <a:rPr lang="en-IN" smtClean="0"/>
              <a:t>18-08-2026</a:t>
            </a:fld>
            <a:endParaRPr lang="en-IN"/>
          </a:p>
        </p:txBody>
      </p:sp>
      <p:sp>
        <p:nvSpPr>
          <p:cNvPr id="5" name="Footer Placeholder 4">
            <a:extLst>
              <a:ext uri="{FF2B5EF4-FFF2-40B4-BE49-F238E27FC236}">
                <a16:creationId xmlns:a16="http://schemas.microsoft.com/office/drawing/2014/main" id="{CB154BD1-4CC4-0453-199E-82D4FAF4BFD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78CFFC8-B686-A941-6602-B00700B87BF6}"/>
              </a:ext>
            </a:extLst>
          </p:cNvPr>
          <p:cNvSpPr>
            <a:spLocks noGrp="1"/>
          </p:cNvSpPr>
          <p:nvPr>
            <p:ph type="sldNum" sz="quarter" idx="12"/>
          </p:nvPr>
        </p:nvSpPr>
        <p:spPr/>
        <p:txBody>
          <a:bodyPr/>
          <a:lstStyle/>
          <a:p>
            <a:fld id="{5A8A1CFC-AE48-4E94-BBD8-0276C73E9B60}" type="slidenum">
              <a:rPr lang="en-IN" smtClean="0"/>
              <a:t>‹#›</a:t>
            </a:fld>
            <a:endParaRPr lang="en-IN"/>
          </a:p>
        </p:txBody>
      </p:sp>
    </p:spTree>
    <p:extLst>
      <p:ext uri="{BB962C8B-B14F-4D97-AF65-F5344CB8AC3E}">
        <p14:creationId xmlns:p14="http://schemas.microsoft.com/office/powerpoint/2010/main" val="2693028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789E52-9BAE-1D45-CF4C-B29D6434027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E449398-5064-1D59-715A-28335CC4570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CBF68BE-C518-306B-A6E0-27D89AC21A3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D58648E-3049-CE14-D1B2-2679A6399862}"/>
              </a:ext>
            </a:extLst>
          </p:cNvPr>
          <p:cNvSpPr>
            <a:spLocks noGrp="1"/>
          </p:cNvSpPr>
          <p:nvPr>
            <p:ph type="dt" sz="half" idx="10"/>
          </p:nvPr>
        </p:nvSpPr>
        <p:spPr/>
        <p:txBody>
          <a:bodyPr/>
          <a:lstStyle/>
          <a:p>
            <a:fld id="{4DC307CA-3709-412E-89EF-88D0040A9D90}" type="datetimeFigureOut">
              <a:rPr lang="en-IN" smtClean="0"/>
              <a:t>18-08-2026</a:t>
            </a:fld>
            <a:endParaRPr lang="en-IN"/>
          </a:p>
        </p:txBody>
      </p:sp>
      <p:sp>
        <p:nvSpPr>
          <p:cNvPr id="6" name="Footer Placeholder 5">
            <a:extLst>
              <a:ext uri="{FF2B5EF4-FFF2-40B4-BE49-F238E27FC236}">
                <a16:creationId xmlns:a16="http://schemas.microsoft.com/office/drawing/2014/main" id="{B0605269-1BF1-0628-DA18-B96D8338702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B9B50FA-C30C-D838-4F00-0EBC870753B6}"/>
              </a:ext>
            </a:extLst>
          </p:cNvPr>
          <p:cNvSpPr>
            <a:spLocks noGrp="1"/>
          </p:cNvSpPr>
          <p:nvPr>
            <p:ph type="sldNum" sz="quarter" idx="12"/>
          </p:nvPr>
        </p:nvSpPr>
        <p:spPr/>
        <p:txBody>
          <a:bodyPr/>
          <a:lstStyle/>
          <a:p>
            <a:fld id="{5A8A1CFC-AE48-4E94-BBD8-0276C73E9B60}" type="slidenum">
              <a:rPr lang="en-IN" smtClean="0"/>
              <a:t>‹#›</a:t>
            </a:fld>
            <a:endParaRPr lang="en-IN"/>
          </a:p>
        </p:txBody>
      </p:sp>
    </p:spTree>
    <p:extLst>
      <p:ext uri="{BB962C8B-B14F-4D97-AF65-F5344CB8AC3E}">
        <p14:creationId xmlns:p14="http://schemas.microsoft.com/office/powerpoint/2010/main" val="38949150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416C92-02E0-BCE8-6A5B-3457721EB94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5F7FF62-2A79-B0CE-DEF9-244E33FB8AD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DE8A78E-D558-0ECB-D8A0-C8535B253AB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9986991-94BF-43EE-25B1-F0E4C45E474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B42E251-9F67-134C-9EB3-00AE841D64E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EFD22BD-4172-A948-FFD1-8129A3FB7415}"/>
              </a:ext>
            </a:extLst>
          </p:cNvPr>
          <p:cNvSpPr>
            <a:spLocks noGrp="1"/>
          </p:cNvSpPr>
          <p:nvPr>
            <p:ph type="dt" sz="half" idx="10"/>
          </p:nvPr>
        </p:nvSpPr>
        <p:spPr/>
        <p:txBody>
          <a:bodyPr/>
          <a:lstStyle/>
          <a:p>
            <a:fld id="{4DC307CA-3709-412E-89EF-88D0040A9D90}" type="datetimeFigureOut">
              <a:rPr lang="en-IN" smtClean="0"/>
              <a:t>18-08-2026</a:t>
            </a:fld>
            <a:endParaRPr lang="en-IN"/>
          </a:p>
        </p:txBody>
      </p:sp>
      <p:sp>
        <p:nvSpPr>
          <p:cNvPr id="8" name="Footer Placeholder 7">
            <a:extLst>
              <a:ext uri="{FF2B5EF4-FFF2-40B4-BE49-F238E27FC236}">
                <a16:creationId xmlns:a16="http://schemas.microsoft.com/office/drawing/2014/main" id="{31A4F744-5527-E0F2-B961-9B46339EDDE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D842B47-0052-E066-15B9-CAA6F1232EF7}"/>
              </a:ext>
            </a:extLst>
          </p:cNvPr>
          <p:cNvSpPr>
            <a:spLocks noGrp="1"/>
          </p:cNvSpPr>
          <p:nvPr>
            <p:ph type="sldNum" sz="quarter" idx="12"/>
          </p:nvPr>
        </p:nvSpPr>
        <p:spPr/>
        <p:txBody>
          <a:bodyPr/>
          <a:lstStyle/>
          <a:p>
            <a:fld id="{5A8A1CFC-AE48-4E94-BBD8-0276C73E9B60}" type="slidenum">
              <a:rPr lang="en-IN" smtClean="0"/>
              <a:t>‹#›</a:t>
            </a:fld>
            <a:endParaRPr lang="en-IN"/>
          </a:p>
        </p:txBody>
      </p:sp>
    </p:spTree>
    <p:extLst>
      <p:ext uri="{BB962C8B-B14F-4D97-AF65-F5344CB8AC3E}">
        <p14:creationId xmlns:p14="http://schemas.microsoft.com/office/powerpoint/2010/main" val="15346422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9FDC52-583A-F52D-B634-9F6363F5955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0F16A2B-0CCD-BEE8-5AFE-9ED86910F01A}"/>
              </a:ext>
            </a:extLst>
          </p:cNvPr>
          <p:cNvSpPr>
            <a:spLocks noGrp="1"/>
          </p:cNvSpPr>
          <p:nvPr>
            <p:ph type="dt" sz="half" idx="10"/>
          </p:nvPr>
        </p:nvSpPr>
        <p:spPr/>
        <p:txBody>
          <a:bodyPr/>
          <a:lstStyle/>
          <a:p>
            <a:fld id="{4DC307CA-3709-412E-89EF-88D0040A9D90}" type="datetimeFigureOut">
              <a:rPr lang="en-IN" smtClean="0"/>
              <a:t>18-08-2026</a:t>
            </a:fld>
            <a:endParaRPr lang="en-IN"/>
          </a:p>
        </p:txBody>
      </p:sp>
      <p:sp>
        <p:nvSpPr>
          <p:cNvPr id="4" name="Footer Placeholder 3">
            <a:extLst>
              <a:ext uri="{FF2B5EF4-FFF2-40B4-BE49-F238E27FC236}">
                <a16:creationId xmlns:a16="http://schemas.microsoft.com/office/drawing/2014/main" id="{BAE4644B-8B3C-06DF-3703-FC793403AA6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FBD8F0C-FC0A-B223-D1FE-975BE996887C}"/>
              </a:ext>
            </a:extLst>
          </p:cNvPr>
          <p:cNvSpPr>
            <a:spLocks noGrp="1"/>
          </p:cNvSpPr>
          <p:nvPr>
            <p:ph type="sldNum" sz="quarter" idx="12"/>
          </p:nvPr>
        </p:nvSpPr>
        <p:spPr/>
        <p:txBody>
          <a:bodyPr/>
          <a:lstStyle/>
          <a:p>
            <a:fld id="{5A8A1CFC-AE48-4E94-BBD8-0276C73E9B60}" type="slidenum">
              <a:rPr lang="en-IN" smtClean="0"/>
              <a:t>‹#›</a:t>
            </a:fld>
            <a:endParaRPr lang="en-IN"/>
          </a:p>
        </p:txBody>
      </p:sp>
    </p:spTree>
    <p:extLst>
      <p:ext uri="{BB962C8B-B14F-4D97-AF65-F5344CB8AC3E}">
        <p14:creationId xmlns:p14="http://schemas.microsoft.com/office/powerpoint/2010/main" val="24688285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8A736C9-8332-1B30-7C03-44C9BCA87449}"/>
              </a:ext>
            </a:extLst>
          </p:cNvPr>
          <p:cNvSpPr>
            <a:spLocks noGrp="1"/>
          </p:cNvSpPr>
          <p:nvPr>
            <p:ph type="dt" sz="half" idx="10"/>
          </p:nvPr>
        </p:nvSpPr>
        <p:spPr/>
        <p:txBody>
          <a:bodyPr/>
          <a:lstStyle/>
          <a:p>
            <a:fld id="{4DC307CA-3709-412E-89EF-88D0040A9D90}" type="datetimeFigureOut">
              <a:rPr lang="en-IN" smtClean="0"/>
              <a:t>18-08-2026</a:t>
            </a:fld>
            <a:endParaRPr lang="en-IN"/>
          </a:p>
        </p:txBody>
      </p:sp>
      <p:sp>
        <p:nvSpPr>
          <p:cNvPr id="3" name="Footer Placeholder 2">
            <a:extLst>
              <a:ext uri="{FF2B5EF4-FFF2-40B4-BE49-F238E27FC236}">
                <a16:creationId xmlns:a16="http://schemas.microsoft.com/office/drawing/2014/main" id="{FD3C9114-A99C-8189-B40D-25471820649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DD33D99-0FA1-8543-55FE-CD0F97E278F2}"/>
              </a:ext>
            </a:extLst>
          </p:cNvPr>
          <p:cNvSpPr>
            <a:spLocks noGrp="1"/>
          </p:cNvSpPr>
          <p:nvPr>
            <p:ph type="sldNum" sz="quarter" idx="12"/>
          </p:nvPr>
        </p:nvSpPr>
        <p:spPr/>
        <p:txBody>
          <a:bodyPr/>
          <a:lstStyle/>
          <a:p>
            <a:fld id="{5A8A1CFC-AE48-4E94-BBD8-0276C73E9B60}" type="slidenum">
              <a:rPr lang="en-IN" smtClean="0"/>
              <a:t>‹#›</a:t>
            </a:fld>
            <a:endParaRPr lang="en-IN"/>
          </a:p>
        </p:txBody>
      </p:sp>
    </p:spTree>
    <p:extLst>
      <p:ext uri="{BB962C8B-B14F-4D97-AF65-F5344CB8AC3E}">
        <p14:creationId xmlns:p14="http://schemas.microsoft.com/office/powerpoint/2010/main" val="5277642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F67838-7285-BE8C-69F9-644217B27F9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1608D23-EF09-49E1-B559-23FAC80D9DF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9D9C8B8-0CF7-5AEC-5FF8-7485814D32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325FEDE-FE48-AF4D-57EA-7535C499B3BF}"/>
              </a:ext>
            </a:extLst>
          </p:cNvPr>
          <p:cNvSpPr>
            <a:spLocks noGrp="1"/>
          </p:cNvSpPr>
          <p:nvPr>
            <p:ph type="dt" sz="half" idx="10"/>
          </p:nvPr>
        </p:nvSpPr>
        <p:spPr/>
        <p:txBody>
          <a:bodyPr/>
          <a:lstStyle/>
          <a:p>
            <a:fld id="{4DC307CA-3709-412E-89EF-88D0040A9D90}" type="datetimeFigureOut">
              <a:rPr lang="en-IN" smtClean="0"/>
              <a:t>18-08-2026</a:t>
            </a:fld>
            <a:endParaRPr lang="en-IN"/>
          </a:p>
        </p:txBody>
      </p:sp>
      <p:sp>
        <p:nvSpPr>
          <p:cNvPr id="6" name="Footer Placeholder 5">
            <a:extLst>
              <a:ext uri="{FF2B5EF4-FFF2-40B4-BE49-F238E27FC236}">
                <a16:creationId xmlns:a16="http://schemas.microsoft.com/office/drawing/2014/main" id="{1F166036-CE1F-98C0-6395-FAB892E9C1B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53AE8EF-49D4-F01C-043D-0FE5E816F6D6}"/>
              </a:ext>
            </a:extLst>
          </p:cNvPr>
          <p:cNvSpPr>
            <a:spLocks noGrp="1"/>
          </p:cNvSpPr>
          <p:nvPr>
            <p:ph type="sldNum" sz="quarter" idx="12"/>
          </p:nvPr>
        </p:nvSpPr>
        <p:spPr/>
        <p:txBody>
          <a:bodyPr/>
          <a:lstStyle/>
          <a:p>
            <a:fld id="{5A8A1CFC-AE48-4E94-BBD8-0276C73E9B60}" type="slidenum">
              <a:rPr lang="en-IN" smtClean="0"/>
              <a:t>‹#›</a:t>
            </a:fld>
            <a:endParaRPr lang="en-IN"/>
          </a:p>
        </p:txBody>
      </p:sp>
    </p:spTree>
    <p:extLst>
      <p:ext uri="{BB962C8B-B14F-4D97-AF65-F5344CB8AC3E}">
        <p14:creationId xmlns:p14="http://schemas.microsoft.com/office/powerpoint/2010/main" val="21119573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2032A5-B82D-6B8F-DEB8-661627FBE00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97E00DC-6E96-32F9-BA7B-966F18512F5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BF02247-14A3-B33D-C6C7-85B3F6AE3DE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4ADA2C8-E1CE-F670-D8C7-6DB8F16344C1}"/>
              </a:ext>
            </a:extLst>
          </p:cNvPr>
          <p:cNvSpPr>
            <a:spLocks noGrp="1"/>
          </p:cNvSpPr>
          <p:nvPr>
            <p:ph type="dt" sz="half" idx="10"/>
          </p:nvPr>
        </p:nvSpPr>
        <p:spPr/>
        <p:txBody>
          <a:bodyPr/>
          <a:lstStyle/>
          <a:p>
            <a:fld id="{4DC307CA-3709-412E-89EF-88D0040A9D90}" type="datetimeFigureOut">
              <a:rPr lang="en-IN" smtClean="0"/>
              <a:t>18-08-2026</a:t>
            </a:fld>
            <a:endParaRPr lang="en-IN"/>
          </a:p>
        </p:txBody>
      </p:sp>
      <p:sp>
        <p:nvSpPr>
          <p:cNvPr id="6" name="Footer Placeholder 5">
            <a:extLst>
              <a:ext uri="{FF2B5EF4-FFF2-40B4-BE49-F238E27FC236}">
                <a16:creationId xmlns:a16="http://schemas.microsoft.com/office/drawing/2014/main" id="{9B71F693-DD8C-8FF9-FCAA-80C599C987C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9533B01-DE82-B526-B5E2-3563921BABAC}"/>
              </a:ext>
            </a:extLst>
          </p:cNvPr>
          <p:cNvSpPr>
            <a:spLocks noGrp="1"/>
          </p:cNvSpPr>
          <p:nvPr>
            <p:ph type="sldNum" sz="quarter" idx="12"/>
          </p:nvPr>
        </p:nvSpPr>
        <p:spPr/>
        <p:txBody>
          <a:bodyPr/>
          <a:lstStyle/>
          <a:p>
            <a:fld id="{5A8A1CFC-AE48-4E94-BBD8-0276C73E9B60}" type="slidenum">
              <a:rPr lang="en-IN" smtClean="0"/>
              <a:t>‹#›</a:t>
            </a:fld>
            <a:endParaRPr lang="en-IN"/>
          </a:p>
        </p:txBody>
      </p:sp>
    </p:spTree>
    <p:extLst>
      <p:ext uri="{BB962C8B-B14F-4D97-AF65-F5344CB8AC3E}">
        <p14:creationId xmlns:p14="http://schemas.microsoft.com/office/powerpoint/2010/main" val="7022385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C93C35-5EE2-D45F-6937-F458EB652CF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DFA520F-CCC8-4F2C-6334-9BB73C345CB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377C543-D9C9-68C1-717D-34D3CB9200F7}"/>
              </a:ext>
            </a:extLst>
          </p:cNvPr>
          <p:cNvSpPr>
            <a:spLocks noGrp="1"/>
          </p:cNvSpPr>
          <p:nvPr>
            <p:ph type="dt" sz="half" idx="10"/>
          </p:nvPr>
        </p:nvSpPr>
        <p:spPr/>
        <p:txBody>
          <a:bodyPr/>
          <a:lstStyle/>
          <a:p>
            <a:fld id="{4DC307CA-3709-412E-89EF-88D0040A9D90}" type="datetimeFigureOut">
              <a:rPr lang="en-IN" smtClean="0"/>
              <a:t>18-08-2026</a:t>
            </a:fld>
            <a:endParaRPr lang="en-IN"/>
          </a:p>
        </p:txBody>
      </p:sp>
      <p:sp>
        <p:nvSpPr>
          <p:cNvPr id="5" name="Footer Placeholder 4">
            <a:extLst>
              <a:ext uri="{FF2B5EF4-FFF2-40B4-BE49-F238E27FC236}">
                <a16:creationId xmlns:a16="http://schemas.microsoft.com/office/drawing/2014/main" id="{2CB1E08C-8A65-520B-DE02-6FFBF616B39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179EEFB-2D64-9155-0D37-711B3EE85CB6}"/>
              </a:ext>
            </a:extLst>
          </p:cNvPr>
          <p:cNvSpPr>
            <a:spLocks noGrp="1"/>
          </p:cNvSpPr>
          <p:nvPr>
            <p:ph type="sldNum" sz="quarter" idx="12"/>
          </p:nvPr>
        </p:nvSpPr>
        <p:spPr/>
        <p:txBody>
          <a:bodyPr/>
          <a:lstStyle/>
          <a:p>
            <a:fld id="{5A8A1CFC-AE48-4E94-BBD8-0276C73E9B60}" type="slidenum">
              <a:rPr lang="en-IN" smtClean="0"/>
              <a:t>‹#›</a:t>
            </a:fld>
            <a:endParaRPr lang="en-IN"/>
          </a:p>
        </p:txBody>
      </p:sp>
    </p:spTree>
    <p:extLst>
      <p:ext uri="{BB962C8B-B14F-4D97-AF65-F5344CB8AC3E}">
        <p14:creationId xmlns:p14="http://schemas.microsoft.com/office/powerpoint/2010/main" val="24596198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13E3EF0-1A64-253F-8078-9A38789919E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A7BE2C4-9E72-529F-E115-ABF7280F26F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65EB1CA-5838-C2B1-0EC5-F73FC6FC6666}"/>
              </a:ext>
            </a:extLst>
          </p:cNvPr>
          <p:cNvSpPr>
            <a:spLocks noGrp="1"/>
          </p:cNvSpPr>
          <p:nvPr>
            <p:ph type="dt" sz="half" idx="10"/>
          </p:nvPr>
        </p:nvSpPr>
        <p:spPr/>
        <p:txBody>
          <a:bodyPr/>
          <a:lstStyle/>
          <a:p>
            <a:fld id="{4DC307CA-3709-412E-89EF-88D0040A9D90}" type="datetimeFigureOut">
              <a:rPr lang="en-IN" smtClean="0"/>
              <a:t>18-08-2026</a:t>
            </a:fld>
            <a:endParaRPr lang="en-IN"/>
          </a:p>
        </p:txBody>
      </p:sp>
      <p:sp>
        <p:nvSpPr>
          <p:cNvPr id="5" name="Footer Placeholder 4">
            <a:extLst>
              <a:ext uri="{FF2B5EF4-FFF2-40B4-BE49-F238E27FC236}">
                <a16:creationId xmlns:a16="http://schemas.microsoft.com/office/drawing/2014/main" id="{BBE7A736-1F6E-06BD-6B0B-2D7832F35B2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E8683BA-1705-7190-F4A1-CED923023048}"/>
              </a:ext>
            </a:extLst>
          </p:cNvPr>
          <p:cNvSpPr>
            <a:spLocks noGrp="1"/>
          </p:cNvSpPr>
          <p:nvPr>
            <p:ph type="sldNum" sz="quarter" idx="12"/>
          </p:nvPr>
        </p:nvSpPr>
        <p:spPr/>
        <p:txBody>
          <a:bodyPr/>
          <a:lstStyle/>
          <a:p>
            <a:fld id="{5A8A1CFC-AE48-4E94-BBD8-0276C73E9B60}" type="slidenum">
              <a:rPr lang="en-IN" smtClean="0"/>
              <a:t>‹#›</a:t>
            </a:fld>
            <a:endParaRPr lang="en-IN"/>
          </a:p>
        </p:txBody>
      </p:sp>
    </p:spTree>
    <p:extLst>
      <p:ext uri="{BB962C8B-B14F-4D97-AF65-F5344CB8AC3E}">
        <p14:creationId xmlns:p14="http://schemas.microsoft.com/office/powerpoint/2010/main" val="11192014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A7DB1F9-6730-EBCE-6E06-CB155480BE2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479F24A-FF42-4A94-38D0-4CEE6608407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35C3BC7-F163-6A7A-9DEE-5842FB8F6F1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DC307CA-3709-412E-89EF-88D0040A9D90}" type="datetimeFigureOut">
              <a:rPr lang="en-IN" smtClean="0"/>
              <a:t>18-08-2026</a:t>
            </a:fld>
            <a:endParaRPr lang="en-IN"/>
          </a:p>
        </p:txBody>
      </p:sp>
      <p:sp>
        <p:nvSpPr>
          <p:cNvPr id="5" name="Footer Placeholder 4">
            <a:extLst>
              <a:ext uri="{FF2B5EF4-FFF2-40B4-BE49-F238E27FC236}">
                <a16:creationId xmlns:a16="http://schemas.microsoft.com/office/drawing/2014/main" id="{1A8C8724-9EFE-2EA5-A9E2-3336AB8E844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61A8EF36-0EF3-736C-56D6-D2E7D7BC1CC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A8A1CFC-AE48-4E94-BBD8-0276C73E9B60}" type="slidenum">
              <a:rPr lang="en-IN" smtClean="0"/>
              <a:t>‹#›</a:t>
            </a:fld>
            <a:endParaRPr lang="en-IN"/>
          </a:p>
        </p:txBody>
      </p:sp>
    </p:spTree>
    <p:extLst>
      <p:ext uri="{BB962C8B-B14F-4D97-AF65-F5344CB8AC3E}">
        <p14:creationId xmlns:p14="http://schemas.microsoft.com/office/powerpoint/2010/main" val="13169057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212F2-A20D-63A4-4DAE-0AB000486F6D}"/>
              </a:ext>
            </a:extLst>
          </p:cNvPr>
          <p:cNvSpPr>
            <a:spLocks noGrp="1"/>
          </p:cNvSpPr>
          <p:nvPr>
            <p:ph type="ctrTitle"/>
          </p:nvPr>
        </p:nvSpPr>
        <p:spPr>
          <a:xfrm>
            <a:off x="1460740" y="948905"/>
            <a:ext cx="9144000" cy="3358552"/>
          </a:xfrm>
        </p:spPr>
        <p:txBody>
          <a:bodyPr>
            <a:noAutofit/>
          </a:bodyPr>
          <a:lstStyle/>
          <a:p>
            <a:pPr>
              <a:lnSpc>
                <a:spcPct val="80000"/>
              </a:lnSpc>
              <a:defRPr/>
            </a:pPr>
            <a:br>
              <a:rPr lang="en-US" sz="2800" b="1" dirty="0">
                <a:latin typeface="Times New Roman" panose="02020603050405020304" pitchFamily="18" charset="0"/>
                <a:cs typeface="Times New Roman" panose="02020603050405020304" pitchFamily="18" charset="0"/>
              </a:rPr>
            </a:br>
            <a:r>
              <a:rPr lang="en-US" sz="2800" b="1" dirty="0"/>
              <a:t>Intelligent Energy Consumption</a:t>
            </a:r>
            <a:br>
              <a:rPr lang="en-US" sz="2800" b="1" dirty="0"/>
            </a:br>
            <a:r>
              <a:rPr lang="en-US" sz="2800" b="1" dirty="0"/>
              <a:t>Analytics for Smart Buildings</a:t>
            </a:r>
            <a:br>
              <a:rPr lang="en-US" sz="1800" b="1" dirty="0"/>
            </a:br>
            <a:r>
              <a:rPr lang="en-US" sz="1800" b="1" dirty="0">
                <a:solidFill>
                  <a:srgbClr val="00B0F0"/>
                </a:solidFill>
                <a:latin typeface="Times New Roman" panose="02020603050405020304" pitchFamily="18" charset="0"/>
                <a:cs typeface="Times New Roman" panose="02020603050405020304" pitchFamily="18" charset="0"/>
              </a:rPr>
              <a:t>Submitted by</a:t>
            </a:r>
            <a:br>
              <a:rPr lang="en-US" sz="1800" b="1" dirty="0">
                <a:solidFill>
                  <a:srgbClr val="00B0F0"/>
                </a:solidFill>
                <a:latin typeface="Times New Roman" panose="02020603050405020304" pitchFamily="18" charset="0"/>
                <a:cs typeface="Times New Roman" panose="02020603050405020304" pitchFamily="18" charset="0"/>
              </a:rPr>
            </a:br>
            <a:br>
              <a:rPr lang="en-IN" altLang="en-US" sz="1800" b="1" dirty="0">
                <a:solidFill>
                  <a:srgbClr val="FF0000"/>
                </a:solidFill>
                <a:latin typeface="Times New Roman" panose="02020603050405020304" pitchFamily="18" charset="0"/>
                <a:cs typeface="Times New Roman" panose="02020603050405020304" pitchFamily="18" charset="0"/>
              </a:rPr>
            </a:br>
            <a:r>
              <a:rPr lang="en-IN" altLang="en-US" sz="1800" b="1" dirty="0">
                <a:solidFill>
                  <a:srgbClr val="FF0000"/>
                </a:solidFill>
                <a:latin typeface="Times New Roman" panose="02020603050405020304" pitchFamily="18" charset="0"/>
                <a:cs typeface="Times New Roman" panose="02020603050405020304" pitchFamily="18" charset="0"/>
                <a:sym typeface="+mn-ea"/>
              </a:rPr>
              <a:t>2420030235-CH.SHRAVANYA</a:t>
            </a:r>
            <a:br>
              <a:rPr lang="en-IN" altLang="en-US" sz="1800" b="1" dirty="0">
                <a:solidFill>
                  <a:srgbClr val="FF0000"/>
                </a:solidFill>
                <a:latin typeface="Times New Roman" panose="02020603050405020304" pitchFamily="18" charset="0"/>
                <a:cs typeface="Times New Roman" panose="02020603050405020304" pitchFamily="18" charset="0"/>
              </a:rPr>
            </a:br>
            <a:r>
              <a:rPr lang="en-IN" altLang="en-US" sz="1800" b="1" dirty="0">
                <a:solidFill>
                  <a:srgbClr val="FF0000"/>
                </a:solidFill>
                <a:latin typeface="Times New Roman" panose="02020603050405020304" pitchFamily="18" charset="0"/>
                <a:cs typeface="Times New Roman" panose="02020603050405020304" pitchFamily="18" charset="0"/>
              </a:rPr>
              <a:t>2420030116-M.SWETHA</a:t>
            </a:r>
            <a:br>
              <a:rPr lang="en-IN" altLang="en-US" sz="1800" b="1" dirty="0">
                <a:solidFill>
                  <a:srgbClr val="FF0000"/>
                </a:solidFill>
                <a:latin typeface="Times New Roman" panose="02020603050405020304" pitchFamily="18" charset="0"/>
                <a:cs typeface="Times New Roman" panose="02020603050405020304" pitchFamily="18" charset="0"/>
              </a:rPr>
            </a:br>
            <a:r>
              <a:rPr lang="en-IN" altLang="en-US" sz="1800" b="1" dirty="0">
                <a:solidFill>
                  <a:srgbClr val="FF0000"/>
                </a:solidFill>
                <a:latin typeface="Times New Roman" panose="02020603050405020304" pitchFamily="18" charset="0"/>
                <a:cs typeface="Times New Roman" panose="02020603050405020304" pitchFamily="18" charset="0"/>
              </a:rPr>
              <a:t>2420090031-K.CHARANYA</a:t>
            </a:r>
            <a:br>
              <a:rPr lang="en-IN" altLang="en-US" sz="1800" b="1" dirty="0">
                <a:solidFill>
                  <a:srgbClr val="FF0000"/>
                </a:solidFill>
                <a:latin typeface="Times New Roman" panose="02020603050405020304" pitchFamily="18" charset="0"/>
                <a:cs typeface="Times New Roman" panose="02020603050405020304" pitchFamily="18" charset="0"/>
              </a:rPr>
            </a:br>
            <a:br>
              <a:rPr lang="en-US" sz="1800" b="1" dirty="0">
                <a:solidFill>
                  <a:srgbClr val="FF0000"/>
                </a:solidFill>
                <a:latin typeface="Times New Roman" panose="02020603050405020304" pitchFamily="18" charset="0"/>
                <a:cs typeface="Times New Roman" panose="02020603050405020304" pitchFamily="18" charset="0"/>
              </a:rPr>
            </a:br>
            <a:br>
              <a:rPr lang="en-US" sz="1800" b="1" dirty="0">
                <a:solidFill>
                  <a:srgbClr val="FF0000"/>
                </a:solidFill>
                <a:latin typeface="Times New Roman" panose="02020603050405020304" pitchFamily="18" charset="0"/>
                <a:cs typeface="Times New Roman" panose="02020603050405020304" pitchFamily="18" charset="0"/>
              </a:rPr>
            </a:br>
            <a:br>
              <a:rPr lang="en-GB" sz="1800" b="1" i="1" dirty="0">
                <a:solidFill>
                  <a:srgbClr val="FF0000"/>
                </a:solidFill>
                <a:latin typeface="Times New Roman" panose="02020603050405020304" pitchFamily="18" charset="0"/>
                <a:ea typeface="Times New Roman" panose="02020603050405020304" pitchFamily="18" charset="0"/>
              </a:rPr>
            </a:br>
            <a:br>
              <a:rPr lang="en-US" sz="1800" b="1" dirty="0">
                <a:solidFill>
                  <a:srgbClr val="0D0D0D"/>
                </a:solidFill>
                <a:latin typeface="Times New Roman" panose="02020603050405020304" pitchFamily="18" charset="0"/>
                <a:cs typeface="Times New Roman" panose="02020603050405020304" pitchFamily="18" charset="0"/>
              </a:rPr>
            </a:br>
            <a:endParaRPr lang="en-IN" sz="1800" b="1" dirty="0"/>
          </a:p>
        </p:txBody>
      </p:sp>
      <p:sp>
        <p:nvSpPr>
          <p:cNvPr id="3" name="Subtitle 2">
            <a:extLst>
              <a:ext uri="{FF2B5EF4-FFF2-40B4-BE49-F238E27FC236}">
                <a16:creationId xmlns:a16="http://schemas.microsoft.com/office/drawing/2014/main" id="{1D11A051-A3CF-B82B-BEE5-5E0F1E8F9DEC}"/>
              </a:ext>
            </a:extLst>
          </p:cNvPr>
          <p:cNvSpPr>
            <a:spLocks noGrp="1"/>
          </p:cNvSpPr>
          <p:nvPr>
            <p:ph type="subTitle" idx="1"/>
          </p:nvPr>
        </p:nvSpPr>
        <p:spPr>
          <a:xfrm>
            <a:off x="1524000" y="4474234"/>
            <a:ext cx="9144000" cy="783566"/>
          </a:xfrm>
        </p:spPr>
        <p:txBody>
          <a:bodyPr/>
          <a:lstStyle/>
          <a:p>
            <a:r>
              <a:rPr lang="en-US" b="1" dirty="0" err="1">
                <a:solidFill>
                  <a:srgbClr val="00B0F0"/>
                </a:solidFill>
                <a:latin typeface="Times New Roman" panose="02020603050405020304" pitchFamily="18" charset="0"/>
                <a:cs typeface="Times New Roman" panose="02020603050405020304" pitchFamily="18" charset="0"/>
              </a:rPr>
              <a:t>Dr.N.Sirisha</a:t>
            </a:r>
            <a:br>
              <a:rPr lang="en-US" b="1" dirty="0">
                <a:solidFill>
                  <a:srgbClr val="00B0F0"/>
                </a:solidFill>
                <a:latin typeface="Times New Roman" panose="02020603050405020304" pitchFamily="18" charset="0"/>
                <a:cs typeface="Times New Roman" panose="02020603050405020304" pitchFamily="18" charset="0"/>
              </a:rPr>
            </a:br>
            <a:r>
              <a:rPr lang="en-US" b="1" dirty="0">
                <a:solidFill>
                  <a:srgbClr val="00B0F0"/>
                </a:solidFill>
                <a:latin typeface="Times New Roman" panose="02020603050405020304" pitchFamily="18" charset="0"/>
                <a:cs typeface="Times New Roman" panose="02020603050405020304" pitchFamily="18" charset="0"/>
              </a:rPr>
              <a:t>Assistant Professor</a:t>
            </a:r>
            <a:endParaRPr lang="en-IN" dirty="0"/>
          </a:p>
        </p:txBody>
      </p:sp>
      <p:pic>
        <p:nvPicPr>
          <p:cNvPr id="5" name="Picture 4" descr="KL University - KL University added a ...">
            <a:extLst>
              <a:ext uri="{FF2B5EF4-FFF2-40B4-BE49-F238E27FC236}">
                <a16:creationId xmlns:a16="http://schemas.microsoft.com/office/drawing/2014/main" id="{EE7A3743-040A-BE1C-14E9-9F60D0D2E86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37796" y="148087"/>
            <a:ext cx="1125855" cy="1130300"/>
          </a:xfrm>
          <a:prstGeom prst="rect">
            <a:avLst/>
          </a:prstGeom>
          <a:noFill/>
          <a:ln>
            <a:noFill/>
          </a:ln>
        </p:spPr>
      </p:pic>
    </p:spTree>
    <p:extLst>
      <p:ext uri="{BB962C8B-B14F-4D97-AF65-F5344CB8AC3E}">
        <p14:creationId xmlns:p14="http://schemas.microsoft.com/office/powerpoint/2010/main" val="15563962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0C4EF7-B252-955B-EF67-B176FC8CD260}"/>
              </a:ext>
            </a:extLst>
          </p:cNvPr>
          <p:cNvSpPr>
            <a:spLocks noGrp="1"/>
          </p:cNvSpPr>
          <p:nvPr>
            <p:ph type="title"/>
          </p:nvPr>
        </p:nvSpPr>
        <p:spPr>
          <a:xfrm>
            <a:off x="1552753" y="230188"/>
            <a:ext cx="9369725" cy="652792"/>
          </a:xfrm>
        </p:spPr>
        <p:txBody>
          <a:bodyPr>
            <a:normAutofit fontScale="90000"/>
          </a:bodyPr>
          <a:lstStyle/>
          <a:p>
            <a:r>
              <a:rPr lang="en-US" b="1" dirty="0">
                <a:solidFill>
                  <a:srgbClr val="0070C0"/>
                </a:solidFill>
                <a:latin typeface="Times New Roman" panose="02020603050405020304" pitchFamily="18" charset="0"/>
                <a:cs typeface="Times New Roman" panose="02020603050405020304" pitchFamily="18" charset="0"/>
              </a:rPr>
              <a:t>Outline of the presentation</a:t>
            </a:r>
            <a:endParaRPr lang="en-IN" dirty="0"/>
          </a:p>
        </p:txBody>
      </p:sp>
      <p:sp>
        <p:nvSpPr>
          <p:cNvPr id="3" name="Content Placeholder 2">
            <a:extLst>
              <a:ext uri="{FF2B5EF4-FFF2-40B4-BE49-F238E27FC236}">
                <a16:creationId xmlns:a16="http://schemas.microsoft.com/office/drawing/2014/main" id="{9938AEA5-046B-56C9-8B19-F144A7427533}"/>
              </a:ext>
            </a:extLst>
          </p:cNvPr>
          <p:cNvSpPr>
            <a:spLocks noGrp="1"/>
          </p:cNvSpPr>
          <p:nvPr>
            <p:ph idx="1"/>
          </p:nvPr>
        </p:nvSpPr>
        <p:spPr>
          <a:xfrm>
            <a:off x="838200" y="966158"/>
            <a:ext cx="10515600" cy="5661654"/>
          </a:xfrm>
        </p:spPr>
        <p:txBody>
          <a:bodyPr/>
          <a:lstStyle/>
          <a:p>
            <a:r>
              <a:rPr lang="en-US" sz="3200" dirty="0">
                <a:cs typeface="+mj-lt"/>
              </a:rPr>
              <a:t>Problem Statement</a:t>
            </a:r>
          </a:p>
          <a:p>
            <a:r>
              <a:rPr lang="en-US" sz="3200" dirty="0">
                <a:cs typeface="+mj-lt"/>
              </a:rPr>
              <a:t>Abstract</a:t>
            </a:r>
          </a:p>
          <a:p>
            <a:r>
              <a:rPr lang="en-US" sz="3200" dirty="0">
                <a:cs typeface="+mj-lt"/>
              </a:rPr>
              <a:t>Project flow diagram</a:t>
            </a:r>
          </a:p>
          <a:p>
            <a:r>
              <a:rPr lang="en-US" sz="3200" dirty="0">
                <a:cs typeface="+mj-lt"/>
              </a:rPr>
              <a:t>Literature Survey</a:t>
            </a:r>
          </a:p>
        </p:txBody>
      </p:sp>
      <p:pic>
        <p:nvPicPr>
          <p:cNvPr id="5" name="Picture 4" descr="KL University - KL University added a ...">
            <a:extLst>
              <a:ext uri="{FF2B5EF4-FFF2-40B4-BE49-F238E27FC236}">
                <a16:creationId xmlns:a16="http://schemas.microsoft.com/office/drawing/2014/main" id="{E63EE10B-9A4F-5084-99D0-57C03FE0E86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14099" y="230188"/>
            <a:ext cx="878580" cy="735970"/>
          </a:xfrm>
          <a:prstGeom prst="rect">
            <a:avLst/>
          </a:prstGeom>
          <a:noFill/>
          <a:ln>
            <a:noFill/>
          </a:ln>
        </p:spPr>
      </p:pic>
    </p:spTree>
    <p:extLst>
      <p:ext uri="{BB962C8B-B14F-4D97-AF65-F5344CB8AC3E}">
        <p14:creationId xmlns:p14="http://schemas.microsoft.com/office/powerpoint/2010/main" val="41562185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2D8487-3AAE-08CC-32D5-A545EF426B54}"/>
              </a:ext>
            </a:extLst>
          </p:cNvPr>
          <p:cNvSpPr>
            <a:spLocks noGrp="1"/>
          </p:cNvSpPr>
          <p:nvPr>
            <p:ph type="title"/>
          </p:nvPr>
        </p:nvSpPr>
        <p:spPr>
          <a:xfrm>
            <a:off x="1282460" y="598173"/>
            <a:ext cx="10013830" cy="293298"/>
          </a:xfrm>
        </p:spPr>
        <p:txBody>
          <a:bodyPr>
            <a:normAutofit fontScale="90000"/>
          </a:bodyPr>
          <a:lstStyle/>
          <a:p>
            <a:r>
              <a:rPr lang="en-US" b="1" dirty="0">
                <a:solidFill>
                  <a:srgbClr val="0070C0"/>
                </a:solidFill>
                <a:latin typeface="Times New Roman" panose="02020603050405020304" pitchFamily="18" charset="0"/>
                <a:cs typeface="Times New Roman" panose="02020603050405020304" pitchFamily="18" charset="0"/>
              </a:rPr>
              <a:t>Problem Statement</a:t>
            </a:r>
            <a:br>
              <a:rPr lang="en-US" b="1" dirty="0">
                <a:solidFill>
                  <a:srgbClr val="0070C0"/>
                </a:solidFill>
                <a:latin typeface="Times New Roman" panose="02020603050405020304" pitchFamily="18"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79F71777-0BF4-8091-283E-2AF4872EC046}"/>
              </a:ext>
            </a:extLst>
          </p:cNvPr>
          <p:cNvSpPr>
            <a:spLocks noGrp="1"/>
          </p:cNvSpPr>
          <p:nvPr>
            <p:ph idx="1"/>
          </p:nvPr>
        </p:nvSpPr>
        <p:spPr>
          <a:xfrm>
            <a:off x="230037" y="966158"/>
            <a:ext cx="11795185" cy="5661654"/>
          </a:xfrm>
        </p:spPr>
        <p:txBody>
          <a:bodyPr>
            <a:normAutofit lnSpcReduction="10000"/>
          </a:bodyPr>
          <a:lstStyle/>
          <a:p>
            <a:pPr marL="0" indent="0" algn="just">
              <a:buNone/>
            </a:pPr>
            <a:r>
              <a:rPr lang="en-US" dirty="0">
                <a:latin typeface="Times New Roman" panose="02020603050405020304" pitchFamily="18" charset="0"/>
                <a:cs typeface="Times New Roman" panose="02020603050405020304" pitchFamily="18" charset="0"/>
              </a:rPr>
              <a:t>Buildings consume a significant amount of energy through lighting, air conditioning, heating, ventilation, office equipment, elevators, and other electrical systems. </a:t>
            </a:r>
          </a:p>
          <a:p>
            <a:pPr marL="0" indent="0" algn="just">
              <a:buNone/>
            </a:pPr>
            <a:r>
              <a:rPr lang="en-US" dirty="0">
                <a:latin typeface="Times New Roman" panose="02020603050405020304" pitchFamily="18" charset="0"/>
                <a:cs typeface="Times New Roman" panose="02020603050405020304" pitchFamily="18" charset="0"/>
              </a:rPr>
              <a:t>In many buildings, energy usage is monitored mainly through basic meter readings, which show how much energy has been consumed but do not clearly explain why the consumption changes or where energy is being wasted. </a:t>
            </a:r>
          </a:p>
          <a:p>
            <a:pPr marL="0" indent="0" algn="just">
              <a:buNone/>
            </a:pPr>
            <a:r>
              <a:rPr lang="en-US" dirty="0">
                <a:latin typeface="Times New Roman" panose="02020603050405020304" pitchFamily="18" charset="0"/>
                <a:cs typeface="Times New Roman" panose="02020603050405020304" pitchFamily="18" charset="0"/>
              </a:rPr>
              <a:t>Sudden increases in consumption may remain unnoticed because manual monitoring cannot continuously analyze large amounts of data. </a:t>
            </a:r>
          </a:p>
          <a:p>
            <a:pPr marL="0" indent="0" algn="just">
              <a:buNone/>
            </a:pPr>
            <a:r>
              <a:rPr lang="en-US" dirty="0">
                <a:latin typeface="Times New Roman" panose="02020603050405020304" pitchFamily="18" charset="0"/>
                <a:cs typeface="Times New Roman" panose="02020603050405020304" pitchFamily="18" charset="0"/>
              </a:rPr>
              <a:t>Similarly, inefficient equipment, unnecessary lighting, excessive HVAC operation, and unusual usage patterns can increase energy costs without being identified at the right time. Therefore, there is a need for an intelligent analytics system that can predict energy consumption, detect abnormal behavior, identify possible wastage, and provide understandable recommendations for improving energy efficiency.</a:t>
            </a:r>
          </a:p>
          <a:p>
            <a:pPr marL="0" indent="0" algn="just">
              <a:buNone/>
            </a:pPr>
            <a:endParaRPr lang="en-US" altLang="en-US" dirty="0">
              <a:latin typeface="Times New Roman" panose="02020603050405020304" pitchFamily="18" charset="0"/>
              <a:cs typeface="Times New Roman" panose="02020603050405020304" pitchFamily="18" charset="0"/>
            </a:endParaRPr>
          </a:p>
          <a:p>
            <a:endParaRPr lang="en-IN" dirty="0"/>
          </a:p>
        </p:txBody>
      </p:sp>
      <p:pic>
        <p:nvPicPr>
          <p:cNvPr id="5" name="Picture 4" descr="KL University - KL University added a ...">
            <a:extLst>
              <a:ext uri="{FF2B5EF4-FFF2-40B4-BE49-F238E27FC236}">
                <a16:creationId xmlns:a16="http://schemas.microsoft.com/office/drawing/2014/main" id="{534196CC-4715-3CDE-E30D-B7765C19107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22084" y="230188"/>
            <a:ext cx="878580" cy="735970"/>
          </a:xfrm>
          <a:prstGeom prst="rect">
            <a:avLst/>
          </a:prstGeom>
          <a:noFill/>
          <a:ln>
            <a:noFill/>
          </a:ln>
        </p:spPr>
      </p:pic>
    </p:spTree>
    <p:extLst>
      <p:ext uri="{BB962C8B-B14F-4D97-AF65-F5344CB8AC3E}">
        <p14:creationId xmlns:p14="http://schemas.microsoft.com/office/powerpoint/2010/main" val="3375291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23D91B-3B30-C66A-39E8-8E8CE8BD1192}"/>
              </a:ext>
            </a:extLst>
          </p:cNvPr>
          <p:cNvSpPr>
            <a:spLocks noGrp="1"/>
          </p:cNvSpPr>
          <p:nvPr>
            <p:ph type="title"/>
          </p:nvPr>
        </p:nvSpPr>
        <p:spPr>
          <a:xfrm>
            <a:off x="1173192" y="365125"/>
            <a:ext cx="10180608" cy="365245"/>
          </a:xfrm>
        </p:spPr>
        <p:txBody>
          <a:bodyPr>
            <a:normAutofit fontScale="90000"/>
          </a:bodyPr>
          <a:lstStyle/>
          <a:p>
            <a:r>
              <a:rPr lang="en-US" b="1" dirty="0">
                <a:solidFill>
                  <a:srgbClr val="0070C0"/>
                </a:solidFill>
                <a:latin typeface="Times New Roman" panose="02020603050405020304" pitchFamily="18" charset="0"/>
                <a:cs typeface="Times New Roman" panose="02020603050405020304" pitchFamily="18" charset="0"/>
              </a:rPr>
              <a:t>Abstract</a:t>
            </a:r>
            <a:endParaRPr lang="en-IN" dirty="0"/>
          </a:p>
        </p:txBody>
      </p:sp>
      <p:sp>
        <p:nvSpPr>
          <p:cNvPr id="3" name="Content Placeholder 2">
            <a:extLst>
              <a:ext uri="{FF2B5EF4-FFF2-40B4-BE49-F238E27FC236}">
                <a16:creationId xmlns:a16="http://schemas.microsoft.com/office/drawing/2014/main" id="{FE85C350-AB6B-736C-E1CD-BCD816644991}"/>
              </a:ext>
            </a:extLst>
          </p:cNvPr>
          <p:cNvSpPr>
            <a:spLocks noGrp="1"/>
          </p:cNvSpPr>
          <p:nvPr>
            <p:ph idx="1"/>
          </p:nvPr>
        </p:nvSpPr>
        <p:spPr>
          <a:xfrm>
            <a:off x="208347" y="960408"/>
            <a:ext cx="11816875" cy="5750943"/>
          </a:xfrm>
        </p:spPr>
        <p:txBody>
          <a:bodyPr/>
          <a:lstStyle/>
          <a:p>
            <a:pPr marL="0" indent="0" algn="just">
              <a:buNone/>
            </a:pPr>
            <a:r>
              <a:rPr lang="en-US" dirty="0"/>
              <a:t>Intelligent Energy Consumption Analytics for Smart Buildings is a data-driven system designed to monitor, understand, and improve the way energy is consumed in modern buildings. The system collects energy usage information from smart meters and other building data sources and processes it to identify meaningful patterns. Historical consumption, time-based information, occupancy, environmental conditions, and equipment usage can be analyzed to predict future energy requirements. The proposed solution also detects unusual consumption patterns that may indicate equipment faults, unexpected usage, or energy wastage. By combining prediction, anomaly detection, wastage analysis, and recommendation techniques, the system can provide useful suggestions for reducing unnecessary consumption. The overall objective is to help building managers make informed decisions, reduce energy costs, improve operational efficiency, and support sustainable energy management.</a:t>
            </a:r>
          </a:p>
          <a:p>
            <a:pPr marL="0" indent="0" algn="just">
              <a:buNone/>
            </a:pPr>
            <a:endParaRPr lang="en-US" altLang="en-US" dirty="0"/>
          </a:p>
          <a:p>
            <a:endParaRPr lang="en-IN" dirty="0"/>
          </a:p>
        </p:txBody>
      </p:sp>
      <p:pic>
        <p:nvPicPr>
          <p:cNvPr id="5" name="Picture 4" descr="KL University - KL University added a ...">
            <a:extLst>
              <a:ext uri="{FF2B5EF4-FFF2-40B4-BE49-F238E27FC236}">
                <a16:creationId xmlns:a16="http://schemas.microsoft.com/office/drawing/2014/main" id="{C75FFF10-69F9-A06D-07BD-5CBD4086FAF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08348" y="291936"/>
            <a:ext cx="878580" cy="735970"/>
          </a:xfrm>
          <a:prstGeom prst="rect">
            <a:avLst/>
          </a:prstGeom>
          <a:noFill/>
          <a:ln>
            <a:noFill/>
          </a:ln>
        </p:spPr>
      </p:pic>
    </p:spTree>
    <p:extLst>
      <p:ext uri="{BB962C8B-B14F-4D97-AF65-F5344CB8AC3E}">
        <p14:creationId xmlns:p14="http://schemas.microsoft.com/office/powerpoint/2010/main" val="13182423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B95B46-7538-08A4-BEC9-E58A37C18180}"/>
              </a:ext>
            </a:extLst>
          </p:cNvPr>
          <p:cNvSpPr>
            <a:spLocks noGrp="1"/>
          </p:cNvSpPr>
          <p:nvPr>
            <p:ph type="title"/>
          </p:nvPr>
        </p:nvSpPr>
        <p:spPr>
          <a:xfrm>
            <a:off x="1207698" y="494580"/>
            <a:ext cx="10146102" cy="488831"/>
          </a:xfrm>
        </p:spPr>
        <p:txBody>
          <a:bodyPr>
            <a:normAutofit fontScale="90000"/>
          </a:bodyPr>
          <a:lstStyle/>
          <a:p>
            <a:r>
              <a:rPr lang="en-IN" b="1" dirty="0"/>
              <a:t>Introduction</a:t>
            </a:r>
            <a:br>
              <a:rPr lang="en-IN" b="1" dirty="0"/>
            </a:br>
            <a:endParaRPr lang="en-IN" b="1" dirty="0"/>
          </a:p>
        </p:txBody>
      </p:sp>
      <p:sp>
        <p:nvSpPr>
          <p:cNvPr id="3" name="Content Placeholder 2">
            <a:extLst>
              <a:ext uri="{FF2B5EF4-FFF2-40B4-BE49-F238E27FC236}">
                <a16:creationId xmlns:a16="http://schemas.microsoft.com/office/drawing/2014/main" id="{D78335D1-D8C6-9FFF-50D6-2AA6DF2CBFEB}"/>
              </a:ext>
            </a:extLst>
          </p:cNvPr>
          <p:cNvSpPr>
            <a:spLocks noGrp="1"/>
          </p:cNvSpPr>
          <p:nvPr>
            <p:ph idx="1"/>
          </p:nvPr>
        </p:nvSpPr>
        <p:spPr>
          <a:xfrm>
            <a:off x="281796" y="918638"/>
            <a:ext cx="11680166" cy="5683445"/>
          </a:xfrm>
        </p:spPr>
        <p:txBody>
          <a:bodyPr/>
          <a:lstStyle/>
          <a:p>
            <a:pPr marL="0" indent="0" algn="just">
              <a:buNone/>
            </a:pPr>
            <a:r>
              <a:rPr lang="en-US" dirty="0">
                <a:latin typeface="Times New Roman" panose="02020603050405020304" pitchFamily="18" charset="0"/>
                <a:cs typeface="Times New Roman" panose="02020603050405020304" pitchFamily="18" charset="0"/>
              </a:rPr>
              <a:t>Smart buildings use connected devices, sensors, smart meters, and automated systems to improve building operations. However, collecting data alone is not enough; the data must be converted into useful information for decision-making. Intelligent energy analytics uses data processing and machine learning techniques to understand consumption behavior and forecast future demand. The system can study daily, weekly, and seasonal patterns and relate energy usage to factors such as occupancy, temperature, time, and equipment operation. Prediction enables proactive energy planning, while anomaly detection helps identify consumption that differs significantly from normal behavior. Wastage analysis can highlight periods of unnecessary energy use, and a recommendation module can suggest actions such as adjusting HVAC schedules, switching off unused equipment, optimizing lighting, or reviewing inefficient operating patterns. Thus, the proposed system acts as an intelligent decision-support tool for efficient and sustainable building management.</a:t>
            </a:r>
          </a:p>
          <a:p>
            <a:pPr marL="0" indent="0" algn="just">
              <a:buNone/>
            </a:pPr>
            <a:endParaRPr lang="en-US" altLang="en-US" dirty="0">
              <a:latin typeface="Times New Roman" panose="02020603050405020304" pitchFamily="18" charset="0"/>
              <a:cs typeface="Times New Roman" panose="02020603050405020304" pitchFamily="18" charset="0"/>
            </a:endParaRPr>
          </a:p>
          <a:p>
            <a:endParaRPr lang="en-IN" dirty="0"/>
          </a:p>
        </p:txBody>
      </p:sp>
      <p:pic>
        <p:nvPicPr>
          <p:cNvPr id="5" name="Picture 4" descr="KL University - KL University added a ...">
            <a:extLst>
              <a:ext uri="{FF2B5EF4-FFF2-40B4-BE49-F238E27FC236}">
                <a16:creationId xmlns:a16="http://schemas.microsoft.com/office/drawing/2014/main" id="{8C2A6AC5-FF70-D3E1-CA86-3E53A28D409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68091" y="182668"/>
            <a:ext cx="878580" cy="735970"/>
          </a:xfrm>
          <a:prstGeom prst="rect">
            <a:avLst/>
          </a:prstGeom>
          <a:noFill/>
          <a:ln>
            <a:noFill/>
          </a:ln>
        </p:spPr>
      </p:pic>
    </p:spTree>
    <p:extLst>
      <p:ext uri="{BB962C8B-B14F-4D97-AF65-F5344CB8AC3E}">
        <p14:creationId xmlns:p14="http://schemas.microsoft.com/office/powerpoint/2010/main" val="26531512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3A5EC1-E4ED-0DB7-ABDA-DE7519506C86}"/>
              </a:ext>
            </a:extLst>
          </p:cNvPr>
          <p:cNvSpPr>
            <a:spLocks noGrp="1"/>
          </p:cNvSpPr>
          <p:nvPr>
            <p:ph type="title"/>
          </p:nvPr>
        </p:nvSpPr>
        <p:spPr>
          <a:xfrm>
            <a:off x="1270958" y="181096"/>
            <a:ext cx="9415732" cy="555026"/>
          </a:xfrm>
        </p:spPr>
        <p:txBody>
          <a:bodyPr>
            <a:normAutofit fontScale="90000"/>
          </a:bodyPr>
          <a:lstStyle/>
          <a:p>
            <a:r>
              <a:rPr lang="en-IN" altLang="en-US" b="1" dirty="0">
                <a:solidFill>
                  <a:srgbClr val="0070C0"/>
                </a:solidFill>
                <a:latin typeface="Times New Roman" panose="02020603050405020304" pitchFamily="18" charset="0"/>
                <a:cs typeface="Times New Roman" panose="02020603050405020304" pitchFamily="18" charset="0"/>
              </a:rPr>
              <a:t>Literature Survey</a:t>
            </a:r>
            <a:endParaRPr lang="en-IN" dirty="0"/>
          </a:p>
        </p:txBody>
      </p:sp>
      <p:pic>
        <p:nvPicPr>
          <p:cNvPr id="5" name="Picture 4" descr="KL University - KL University added a ...">
            <a:extLst>
              <a:ext uri="{FF2B5EF4-FFF2-40B4-BE49-F238E27FC236}">
                <a16:creationId xmlns:a16="http://schemas.microsoft.com/office/drawing/2014/main" id="{0C7D5FCE-AE57-D4CA-6C92-3117E5BA68A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22084" y="230188"/>
            <a:ext cx="878580" cy="735970"/>
          </a:xfrm>
          <a:prstGeom prst="rect">
            <a:avLst/>
          </a:prstGeom>
          <a:noFill/>
          <a:ln>
            <a:noFill/>
          </a:ln>
        </p:spPr>
      </p:pic>
      <p:graphicFrame>
        <p:nvGraphicFramePr>
          <p:cNvPr id="8" name="Content Placeholder 3">
            <a:extLst>
              <a:ext uri="{FF2B5EF4-FFF2-40B4-BE49-F238E27FC236}">
                <a16:creationId xmlns:a16="http://schemas.microsoft.com/office/drawing/2014/main" id="{4D3C218B-EF79-F550-2AD7-1AECA0E930AE}"/>
              </a:ext>
            </a:extLst>
          </p:cNvPr>
          <p:cNvGraphicFramePr>
            <a:graphicFrameLocks noGrp="1"/>
          </p:cNvGraphicFramePr>
          <p:nvPr>
            <p:ph idx="1"/>
            <p:extLst>
              <p:ext uri="{D42A27DB-BD31-4B8C-83A1-F6EECF244321}">
                <p14:modId xmlns:p14="http://schemas.microsoft.com/office/powerpoint/2010/main" val="1399027504"/>
              </p:ext>
            </p:extLst>
          </p:nvPr>
        </p:nvGraphicFramePr>
        <p:xfrm>
          <a:off x="122084" y="1035050"/>
          <a:ext cx="11937644" cy="5717092"/>
        </p:xfrm>
        <a:graphic>
          <a:graphicData uri="http://schemas.openxmlformats.org/drawingml/2006/table">
            <a:tbl>
              <a:tblPr firstRow="1" bandRow="1">
                <a:tableStyleId>{F5AB1C69-6EDB-4FF4-983F-18BD219EF322}</a:tableStyleId>
              </a:tblPr>
              <a:tblGrid>
                <a:gridCol w="1206509">
                  <a:extLst>
                    <a:ext uri="{9D8B030D-6E8A-4147-A177-3AD203B41FA5}">
                      <a16:colId xmlns:a16="http://schemas.microsoft.com/office/drawing/2014/main" val="1327112293"/>
                    </a:ext>
                  </a:extLst>
                </a:gridCol>
                <a:gridCol w="3592621">
                  <a:extLst>
                    <a:ext uri="{9D8B030D-6E8A-4147-A177-3AD203B41FA5}">
                      <a16:colId xmlns:a16="http://schemas.microsoft.com/office/drawing/2014/main" val="1321278595"/>
                    </a:ext>
                  </a:extLst>
                </a:gridCol>
                <a:gridCol w="2312476">
                  <a:extLst>
                    <a:ext uri="{9D8B030D-6E8A-4147-A177-3AD203B41FA5}">
                      <a16:colId xmlns:a16="http://schemas.microsoft.com/office/drawing/2014/main" val="1846204010"/>
                    </a:ext>
                  </a:extLst>
                </a:gridCol>
                <a:gridCol w="2741552">
                  <a:extLst>
                    <a:ext uri="{9D8B030D-6E8A-4147-A177-3AD203B41FA5}">
                      <a16:colId xmlns:a16="http://schemas.microsoft.com/office/drawing/2014/main" val="3516186286"/>
                    </a:ext>
                  </a:extLst>
                </a:gridCol>
                <a:gridCol w="2084486">
                  <a:extLst>
                    <a:ext uri="{9D8B030D-6E8A-4147-A177-3AD203B41FA5}">
                      <a16:colId xmlns:a16="http://schemas.microsoft.com/office/drawing/2014/main" val="3749209477"/>
                    </a:ext>
                  </a:extLst>
                </a:gridCol>
              </a:tblGrid>
              <a:tr h="270334">
                <a:tc>
                  <a:txBody>
                    <a:bodyPr/>
                    <a:lstStyle/>
                    <a:p>
                      <a:r>
                        <a:rPr lang="en-IN" sz="1200" dirty="0"/>
                        <a:t>Paper </a:t>
                      </a:r>
                    </a:p>
                  </a:txBody>
                  <a:tcPr/>
                </a:tc>
                <a:tc>
                  <a:txBody>
                    <a:bodyPr/>
                    <a:lstStyle/>
                    <a:p>
                      <a:r>
                        <a:rPr lang="en-IN" sz="1200" dirty="0"/>
                        <a:t>title</a:t>
                      </a:r>
                    </a:p>
                  </a:txBody>
                  <a:tcPr/>
                </a:tc>
                <a:tc>
                  <a:txBody>
                    <a:bodyPr/>
                    <a:lstStyle/>
                    <a:p>
                      <a:r>
                        <a:rPr lang="en-IN" sz="1200" dirty="0"/>
                        <a:t>reference</a:t>
                      </a:r>
                    </a:p>
                  </a:txBody>
                  <a:tcPr/>
                </a:tc>
                <a:tc>
                  <a:txBody>
                    <a:bodyPr/>
                    <a:lstStyle/>
                    <a:p>
                      <a:r>
                        <a:rPr lang="en-IN" sz="1200" dirty="0"/>
                        <a:t>link</a:t>
                      </a:r>
                    </a:p>
                  </a:txBody>
                  <a:tcPr/>
                </a:tc>
                <a:tc>
                  <a:txBody>
                    <a:bodyPr/>
                    <a:lstStyle/>
                    <a:p>
                      <a:r>
                        <a:rPr lang="en-IN" sz="1200" dirty="0"/>
                        <a:t>drawback</a:t>
                      </a:r>
                    </a:p>
                  </a:txBody>
                  <a:tcPr/>
                </a:tc>
                <a:extLst>
                  <a:ext uri="{0D108BD9-81ED-4DB2-BD59-A6C34878D82A}">
                    <a16:rowId xmlns:a16="http://schemas.microsoft.com/office/drawing/2014/main" val="3327441619"/>
                  </a:ext>
                </a:extLst>
              </a:tr>
              <a:tr h="984573">
                <a:tc>
                  <a:txBody>
                    <a:bodyPr/>
                    <a:lstStyle/>
                    <a:p>
                      <a:r>
                        <a:rPr lang="en-IN" sz="1200" dirty="0"/>
                        <a:t>1</a:t>
                      </a:r>
                    </a:p>
                  </a:txBody>
                  <a:tcPr/>
                </a:tc>
                <a:tc>
                  <a:txBody>
                    <a:bodyPr/>
                    <a:lstStyle/>
                    <a:p>
                      <a:r>
                        <a:rPr lang="en-IN" sz="1200" dirty="0"/>
                        <a:t>Machine Learning Applications for Smart Building Energy Utilization: A Survey</a:t>
                      </a:r>
                    </a:p>
                  </a:txBody>
                  <a:tcPr/>
                </a:tc>
                <a:tc>
                  <a:txBody>
                    <a:bodyPr/>
                    <a:lstStyle/>
                    <a:p>
                      <a:r>
                        <a:rPr lang="en-IN" sz="1200" dirty="0"/>
                        <a:t>M. Huotari, A. Malhi &amp; K. </a:t>
                      </a:r>
                      <a:r>
                        <a:rPr lang="en-IN" sz="1200" dirty="0" err="1"/>
                        <a:t>Främling</a:t>
                      </a:r>
                      <a:r>
                        <a:rPr lang="en-IN" sz="1200" dirty="0"/>
                        <a:t>, 2024</a:t>
                      </a:r>
                    </a:p>
                  </a:txBody>
                  <a:tcPr/>
                </a:tc>
                <a:tc>
                  <a:txBody>
                    <a:bodyPr/>
                    <a:lstStyle/>
                    <a:p>
                      <a:r>
                        <a:rPr lang="en-IN" sz="1200" dirty="0"/>
                        <a:t>https://link.springer.com/article/10.1007/s11831-023-10054-7?utm_source=chatgpt.com</a:t>
                      </a:r>
                    </a:p>
                  </a:txBody>
                  <a:tcPr/>
                </a:tc>
                <a:tc>
                  <a:txBody>
                    <a:bodyPr/>
                    <a:lstStyle/>
                    <a:p>
                      <a:r>
                        <a:rPr lang="en-IN" sz="1200" dirty="0"/>
                        <a:t>Mainly a survey; it does not develop and validate one complete real-time energy analytics system.</a:t>
                      </a:r>
                    </a:p>
                  </a:txBody>
                  <a:tcPr/>
                </a:tc>
                <a:extLst>
                  <a:ext uri="{0D108BD9-81ED-4DB2-BD59-A6C34878D82A}">
                    <a16:rowId xmlns:a16="http://schemas.microsoft.com/office/drawing/2014/main" val="1229058331"/>
                  </a:ext>
                </a:extLst>
              </a:tr>
              <a:tr h="1039839">
                <a:tc>
                  <a:txBody>
                    <a:bodyPr/>
                    <a:lstStyle/>
                    <a:p>
                      <a:r>
                        <a:rPr lang="en-IN" sz="1200" dirty="0"/>
                        <a:t>2</a:t>
                      </a:r>
                    </a:p>
                  </a:txBody>
                  <a:tcPr/>
                </a:tc>
                <a:tc>
                  <a:txBody>
                    <a:bodyPr/>
                    <a:lstStyle/>
                    <a:p>
                      <a:r>
                        <a:rPr lang="en-IN" sz="1200" dirty="0"/>
                        <a:t>A Deep Learning Framework for Building Energy Consumption Forecast</a:t>
                      </a:r>
                    </a:p>
                  </a:txBody>
                  <a:tcPr/>
                </a:tc>
                <a:tc>
                  <a:txBody>
                    <a:bodyPr/>
                    <a:lstStyle/>
                    <a:p>
                      <a:r>
                        <a:rPr lang="en-IN" sz="1200" dirty="0"/>
                        <a:t>A. S. et al., </a:t>
                      </a:r>
                      <a:r>
                        <a:rPr lang="en-IN" sz="1200" i="1" dirty="0"/>
                        <a:t>Renewable and Sustainable Energy Reviews</a:t>
                      </a:r>
                      <a:r>
                        <a:rPr lang="en-IN" sz="1200" dirty="0"/>
                        <a:t>, 2021</a:t>
                      </a:r>
                    </a:p>
                  </a:txBody>
                  <a:tcPr/>
                </a:tc>
                <a:tc>
                  <a:txBody>
                    <a:bodyPr/>
                    <a:lstStyle/>
                    <a:p>
                      <a:r>
                        <a:rPr lang="en-IN" sz="1200" dirty="0"/>
                        <a:t>https://doi.org/10.1016/j.rser.2020.110591?utm_source=chatgpt.com</a:t>
                      </a:r>
                    </a:p>
                  </a:txBody>
                  <a:tcPr/>
                </a:tc>
                <a:tc>
                  <a:txBody>
                    <a:bodyPr/>
                    <a:lstStyle/>
                    <a:p>
                      <a:pPr>
                        <a:buNone/>
                      </a:pPr>
                      <a:r>
                        <a:rPr lang="en-IN" sz="1200" dirty="0"/>
                        <a:t>Focuses mainly on forecasting; anomaly detection and personalized energy-saving recommendations are not covered extensively.</a:t>
                      </a:r>
                    </a:p>
                  </a:txBody>
                  <a:tcPr anchor="ctr"/>
                </a:tc>
                <a:extLst>
                  <a:ext uri="{0D108BD9-81ED-4DB2-BD59-A6C34878D82A}">
                    <a16:rowId xmlns:a16="http://schemas.microsoft.com/office/drawing/2014/main" val="4058327673"/>
                  </a:ext>
                </a:extLst>
              </a:tr>
              <a:tr h="772402">
                <a:tc>
                  <a:txBody>
                    <a:bodyPr/>
                    <a:lstStyle/>
                    <a:p>
                      <a:r>
                        <a:rPr lang="en-IN" sz="1200" dirty="0"/>
                        <a:t>3</a:t>
                      </a:r>
                    </a:p>
                  </a:txBody>
                  <a:tcPr/>
                </a:tc>
                <a:tc>
                  <a:txBody>
                    <a:bodyPr/>
                    <a:lstStyle/>
                    <a:p>
                      <a:r>
                        <a:rPr lang="en-IN" sz="1200" dirty="0"/>
                        <a:t>Energy Consumption Prediction by Using Machine Learning for Smart Building: Case Study in Malaysia</a:t>
                      </a:r>
                    </a:p>
                  </a:txBody>
                  <a:tcPr/>
                </a:tc>
                <a:tc>
                  <a:txBody>
                    <a:bodyPr/>
                    <a:lstStyle/>
                    <a:p>
                      <a:r>
                        <a:rPr lang="en-IN" sz="1200" dirty="0"/>
                        <a:t>M. M. et al., </a:t>
                      </a:r>
                      <a:r>
                        <a:rPr lang="en-IN" sz="1200" i="1" dirty="0"/>
                        <a:t>Developments in the Built Environment</a:t>
                      </a:r>
                      <a:r>
                        <a:rPr lang="en-IN" sz="1200" dirty="0"/>
                        <a:t>, 2021</a:t>
                      </a:r>
                    </a:p>
                  </a:txBody>
                  <a:tcPr/>
                </a:tc>
                <a:tc>
                  <a:txBody>
                    <a:bodyPr/>
                    <a:lstStyle/>
                    <a:p>
                      <a:r>
                        <a:rPr lang="en-IN" sz="1200" dirty="0"/>
                        <a:t>https://doi.org/10.1016/j.dibe.2020.100037?utm_source=chatgpt.com</a:t>
                      </a:r>
                    </a:p>
                  </a:txBody>
                  <a:tcPr/>
                </a:tc>
                <a:tc>
                  <a:txBody>
                    <a:bodyPr/>
                    <a:lstStyle/>
                    <a:p>
                      <a:pPr>
                        <a:buNone/>
                      </a:pPr>
                      <a:r>
                        <a:rPr lang="en-IN" sz="1200" dirty="0"/>
                        <a:t>Uses data from only two tenants in one commercial building, so generalization to different buildings may be limited.</a:t>
                      </a:r>
                    </a:p>
                  </a:txBody>
                  <a:tcPr anchor="ctr"/>
                </a:tc>
                <a:extLst>
                  <a:ext uri="{0D108BD9-81ED-4DB2-BD59-A6C34878D82A}">
                    <a16:rowId xmlns:a16="http://schemas.microsoft.com/office/drawing/2014/main" val="3680043250"/>
                  </a:ext>
                </a:extLst>
              </a:tr>
              <a:tr h="1040920">
                <a:tc>
                  <a:txBody>
                    <a:bodyPr/>
                    <a:lstStyle/>
                    <a:p>
                      <a:r>
                        <a:rPr lang="en-IN" sz="1200" dirty="0"/>
                        <a:t>4</a:t>
                      </a:r>
                    </a:p>
                  </a:txBody>
                  <a:tcPr/>
                </a:tc>
                <a:tc>
                  <a:txBody>
                    <a:bodyPr/>
                    <a:lstStyle/>
                    <a:p>
                      <a:r>
                        <a:rPr lang="en-IN" sz="1200" dirty="0"/>
                        <a:t>Artificial Intelligence Based Anomaly Detection of Energy Consumption in Buildings: A Review, Current Trends and New Perspectives</a:t>
                      </a:r>
                    </a:p>
                  </a:txBody>
                  <a:tcPr/>
                </a:tc>
                <a:tc>
                  <a:txBody>
                    <a:bodyPr/>
                    <a:lstStyle/>
                    <a:p>
                      <a:r>
                        <a:rPr lang="en-IN" sz="1200" dirty="0"/>
                        <a:t>Y. Himeur et al., 2021</a:t>
                      </a:r>
                    </a:p>
                  </a:txBody>
                  <a:tcPr/>
                </a:tc>
                <a:tc>
                  <a:txBody>
                    <a:bodyPr/>
                    <a:lstStyle/>
                    <a:p>
                      <a:r>
                        <a:rPr lang="en-IN" sz="1200" dirty="0"/>
                        <a:t>https://doi.org/10.1016/j.apenergy.2021.116058?utm_source=chatgpt.com</a:t>
                      </a:r>
                    </a:p>
                  </a:txBody>
                  <a:tcPr/>
                </a:tc>
                <a:tc>
                  <a:txBody>
                    <a:bodyPr/>
                    <a:lstStyle/>
                    <a:p>
                      <a:pPr>
                        <a:buNone/>
                      </a:pPr>
                      <a:r>
                        <a:rPr lang="en-IN" sz="1200" dirty="0"/>
                        <a:t>Highlights the lack of </a:t>
                      </a:r>
                      <a:r>
                        <a:rPr lang="en-IN" sz="1200" dirty="0" err="1"/>
                        <a:t>labeled</a:t>
                      </a:r>
                      <a:r>
                        <a:rPr lang="en-IN" sz="1200" dirty="0"/>
                        <a:t> datasets, standardized evaluation metrics, reproducible platforms, and privacy-preserving solutions.</a:t>
                      </a:r>
                    </a:p>
                  </a:txBody>
                  <a:tcPr anchor="ctr"/>
                </a:tc>
                <a:extLst>
                  <a:ext uri="{0D108BD9-81ED-4DB2-BD59-A6C34878D82A}">
                    <a16:rowId xmlns:a16="http://schemas.microsoft.com/office/drawing/2014/main" val="1178476664"/>
                  </a:ext>
                </a:extLst>
              </a:tr>
              <a:tr h="503225">
                <a:tc>
                  <a:txBody>
                    <a:bodyPr/>
                    <a:lstStyle/>
                    <a:p>
                      <a:r>
                        <a:rPr lang="en-IN" sz="1200" dirty="0"/>
                        <a:t>5</a:t>
                      </a:r>
                    </a:p>
                  </a:txBody>
                  <a:tcPr/>
                </a:tc>
                <a:tc>
                  <a:txBody>
                    <a:bodyPr/>
                    <a:lstStyle/>
                    <a:p>
                      <a:r>
                        <a:rPr lang="en-IN" sz="1200" dirty="0"/>
                        <a:t>Detecting Energy Consumption Anomalies with Dynamic Adaptive Encoder-Decoder Deep Learning Networks</a:t>
                      </a:r>
                    </a:p>
                  </a:txBody>
                  <a:tcPr/>
                </a:tc>
                <a:tc>
                  <a:txBody>
                    <a:bodyPr/>
                    <a:lstStyle/>
                    <a:p>
                      <a:r>
                        <a:rPr lang="en-IN" sz="1200" dirty="0"/>
                        <a:t>2025, </a:t>
                      </a:r>
                      <a:r>
                        <a:rPr lang="en-IN" sz="1200" i="1" dirty="0"/>
                        <a:t>Renewable and Sustainable Energy Reviews</a:t>
                      </a:r>
                      <a:endParaRPr lang="en-IN" sz="1200" dirty="0"/>
                    </a:p>
                  </a:txBody>
                  <a:tcPr/>
                </a:tc>
                <a:tc>
                  <a:txBody>
                    <a:bodyPr/>
                    <a:lstStyle/>
                    <a:p>
                      <a:r>
                        <a:rPr lang="en-IN" sz="1200" dirty="0"/>
                        <a:t>https://doi.org/10.1016/j.rser.2024.114975?utm_source=chatgpt.com</a:t>
                      </a:r>
                    </a:p>
                  </a:txBody>
                  <a:tcPr/>
                </a:tc>
                <a:tc>
                  <a:txBody>
                    <a:bodyPr/>
                    <a:lstStyle/>
                    <a:p>
                      <a:r>
                        <a:rPr lang="en-IN" sz="1200" dirty="0"/>
                        <a:t>Primarily concentrates on anomaly detection; it does not provide a complete system combining prediction, anomaly detection, and energy-saving recommendations.</a:t>
                      </a:r>
                    </a:p>
                  </a:txBody>
                  <a:tcPr/>
                </a:tc>
                <a:extLst>
                  <a:ext uri="{0D108BD9-81ED-4DB2-BD59-A6C34878D82A}">
                    <a16:rowId xmlns:a16="http://schemas.microsoft.com/office/drawing/2014/main" val="4226434617"/>
                  </a:ext>
                </a:extLst>
              </a:tr>
            </a:tbl>
          </a:graphicData>
        </a:graphic>
      </p:graphicFrame>
    </p:spTree>
    <p:extLst>
      <p:ext uri="{BB962C8B-B14F-4D97-AF65-F5344CB8AC3E}">
        <p14:creationId xmlns:p14="http://schemas.microsoft.com/office/powerpoint/2010/main" val="11663951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838</Words>
  <Application>Microsoft Office PowerPoint</Application>
  <PresentationFormat>Widescreen</PresentationFormat>
  <Paragraphs>47</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Calibri</vt:lpstr>
      <vt:lpstr>Calibri Light</vt:lpstr>
      <vt:lpstr>Times New Roman</vt:lpstr>
      <vt:lpstr>Office Theme</vt:lpstr>
      <vt:lpstr> Intelligent Energy Consumption Analytics for Smart Buildings Submitted by  2420030235-CH.SHRAVANYA 2420030116-M.SWETHA 2420090031-K.CHARANYA     </vt:lpstr>
      <vt:lpstr>Outline of the presentation</vt:lpstr>
      <vt:lpstr>Problem Statement </vt:lpstr>
      <vt:lpstr>Abstract</vt:lpstr>
      <vt:lpstr>Introduction </vt:lpstr>
      <vt:lpstr>Literature Survey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klsaicharanya@outlook.com</dc:creator>
  <cp:lastModifiedBy>klsaicharanya@outlook.com</cp:lastModifiedBy>
  <cp:revision>1</cp:revision>
  <dcterms:created xsi:type="dcterms:W3CDTF">2026-08-18T15:09:51Z</dcterms:created>
  <dcterms:modified xsi:type="dcterms:W3CDTF">2026-08-18T15:09:52Z</dcterms:modified>
</cp:coreProperties>
</file>